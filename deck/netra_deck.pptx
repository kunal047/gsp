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73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6273F"/>
                </a:solidFill>
                <a:latin typeface="Cambria"/>
              </a:rPr>
              <a:t>Ingestion throughput  (POST /api/frame, one backend process)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req/s</c:v>
                </c:pt>
              </c:strCache>
            </c:strRef>
          </c:tx>
          <c:spPr>
            <a:solidFill>
              <a:srgbClr val="2B4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7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4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A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As-shipped</c:v>
                  </c:pt>
                  <c:pt idx="1">
                    <c:v>+ camera cache</c:v>
                  </c:pt>
                  <c:pt idx="2">
                    <c:v>+ batched persist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222</c:v>
                </c:pt>
                <c:pt idx="2">
                  <c:v>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627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828800"/>
            <a:ext cx="3108960" cy="3108960"/>
          </a:xfrm>
          <a:prstGeom prst="ellipse">
            <a:avLst/>
          </a:prstGeom>
          <a:solidFill>
            <a:srgbClr val="1B2E49"/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2240280"/>
            <a:ext cx="2286000" cy="22860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2651760"/>
            <a:ext cx="1463040" cy="146304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2" y="2999232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INNOVATION CHALLENGE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NETRA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CCTV Integration &amp; Intelligence Platform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federation layer over every camera - reconstruct any vehicle's route across the state, from a single registration number.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2296973" cy="402336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937760"/>
            <a:ext cx="22969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Registry + GIS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28493" y="4937760"/>
            <a:ext cx="1871777" cy="402336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28493" y="4937760"/>
            <a:ext cx="18717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Analytics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83150" y="4937760"/>
            <a:ext cx="1956816" cy="402336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3150" y="493776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Federation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Cameras everywhere - but no way to follow a vehicle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3384" cy="3291840"/>
          </a:xfrm>
          <a:prstGeom prst="roundRect">
            <a:avLst>
              <a:gd name="adj" fmla="val 25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58368" cy="658368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◧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Siloed across departments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city police, transport and private VMS platforms don't talk to each other. Footage lives in incompatible islands.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7784" y="1965960"/>
            <a:ext cx="3453384" cy="3291840"/>
          </a:xfrm>
          <a:prstGeom prst="roundRect">
            <a:avLst>
              <a:gd name="adj" fmla="val 25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3544" y="2286000"/>
            <a:ext cx="658368" cy="658368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3544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31546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unified operational view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384048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tab between systems. There is no single map, no shared registry, no cross-system search.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6928" y="1965960"/>
            <a:ext cx="3453384" cy="3291840"/>
          </a:xfrm>
          <a:prstGeom prst="roundRect">
            <a:avLst>
              <a:gd name="adj" fmla="val 25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2688" y="2286000"/>
            <a:ext cx="658368" cy="658368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52688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552688" y="31546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answer “where did it go?”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52688" y="384048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investigative question - a vehicle's path across the city - needs hours of manual review across many recorders.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Netra closes this gap without ripping out a single existing camera or VMS.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SCORED TEST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registration number in - a route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1600200"/>
          </a:xfrm>
          <a:prstGeom prst="roundRect">
            <a:avLst>
              <a:gd name="adj" fmla="val 5143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36829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→ registry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459736" y="2148840"/>
            <a:ext cx="374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9776" y="2148840"/>
            <a:ext cx="1965960" cy="1600200"/>
          </a:xfrm>
          <a:prstGeom prst="roundRect">
            <a:avLst>
              <a:gd name="adj" fmla="val 5143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80944" y="2350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80944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236829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plate (ANPR)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2148840"/>
            <a:ext cx="374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10912" y="2148840"/>
            <a:ext cx="1965960" cy="1600200"/>
          </a:xfrm>
          <a:prstGeom prst="roundRect">
            <a:avLst>
              <a:gd name="adj" fmla="val 5143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2350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12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36829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consensus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22008" y="2148840"/>
            <a:ext cx="374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42048" y="2148840"/>
            <a:ext cx="1965960" cy="1600200"/>
          </a:xfrm>
          <a:prstGeom prst="roundRect">
            <a:avLst>
              <a:gd name="adj" fmla="val 5143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43216" y="2350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43216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991856" y="236829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43216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across cameras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53144" y="2148840"/>
            <a:ext cx="374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73184" y="2148840"/>
            <a:ext cx="1965960" cy="1600200"/>
          </a:xfrm>
          <a:prstGeom prst="roundRect">
            <a:avLst>
              <a:gd name="adj" fmla="val 5143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74352" y="2350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7435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222992" y="236829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timeline + CSV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601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470916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GJ01AB1234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5285232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of interest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527298" y="470916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3527298" y="5285232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on the route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094476" y="470916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200" dirty="0"/>
          </a:p>
        </p:txBody>
      </p:sp>
      <p:sp>
        <p:nvSpPr>
          <p:cNvPr id="40" name="Text 38"/>
          <p:cNvSpPr txBox="1"/>
          <p:nvPr/>
        </p:nvSpPr>
        <p:spPr>
          <a:xfrm>
            <a:off x="6094476" y="5285232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sightings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661654" y="470916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RTSP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8661654" y="5285232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recording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models, one federation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2606040"/>
          </a:xfrm>
          <a:prstGeom prst="roundRect">
            <a:avLst>
              <a:gd name="adj" fmla="val 315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+ GIS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2721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catalogued, geolocated, and lifecycle-managed - the single source of truth for the state's CCTV estate.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920240"/>
            <a:ext cx="3453384" cy="2606040"/>
          </a:xfrm>
          <a:prstGeom prst="roundRect">
            <a:avLst>
              <a:gd name="adj" fmla="val 315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3544" y="2240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E9A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3544" y="2240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278892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viewing + analytics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3429000"/>
            <a:ext cx="2721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 and viewer over all feeds, with ANPR, cross-camera vehicle tracking and evidence-backed alerts.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6928" y="1920240"/>
            <a:ext cx="3453384" cy="2606040"/>
          </a:xfrm>
          <a:prstGeom prst="roundRect">
            <a:avLst>
              <a:gd name="adj" fmla="val 315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2688" y="2240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52688" y="22402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52688" y="278892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VMS federation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52688" y="3429000"/>
            <a:ext cx="2721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adapters normalize independent systems (CSITMS + RTSP/ONVIF) into one event stream with full provenance.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475488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selective Model 4 central AI  ·  bound together by a real event-driven federation middleware (Redis Streams → Redpanda at scale)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 → federation → event bus →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286000" cy="2148840"/>
          </a:xfrm>
          <a:prstGeom prst="roundRect">
            <a:avLst>
              <a:gd name="adj" fmla="val 383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112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CSITMS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(HLS · 30 cams)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RTSP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(MediaMTX · 3 cams)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16352" y="27660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2286000" cy="2148840"/>
          </a:xfrm>
          <a:prstGeom prst="roundRect">
            <a:avLst>
              <a:gd name="adj" fmla="val 383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2112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5146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CameraAdapter contract: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· normalize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resolve_stream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provenance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68112" y="27660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2377440" cy="2148840"/>
          </a:xfrm>
          <a:prstGeom prst="roundRect">
            <a:avLst>
              <a:gd name="adj" fmla="val 383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35040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4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5146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schema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normalize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dedup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correlate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7660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95360" y="1965960"/>
            <a:ext cx="3044952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778240" y="211226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bus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514600"/>
            <a:ext cx="2679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 (proto)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Redpanda / NATS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statewide scale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56717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617720"/>
            <a:ext cx="2567178" cy="1143000"/>
          </a:xfrm>
          <a:prstGeom prst="roundRect">
            <a:avLst>
              <a:gd name="adj" fmla="val 7200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E9A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617720"/>
            <a:ext cx="16527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· ANPR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390138" y="4617720"/>
            <a:ext cx="256717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90138" y="4617720"/>
            <a:ext cx="2567178" cy="1143000"/>
          </a:xfrm>
          <a:prstGeom prst="roundRect">
            <a:avLst>
              <a:gd name="adj" fmla="val 7200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8738" y="4892040"/>
            <a:ext cx="457200" cy="45720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18738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167378" y="4617720"/>
            <a:ext cx="16527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viewer + GIS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31636" y="4617720"/>
            <a:ext cx="256717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1636" y="4617720"/>
            <a:ext cx="2567178" cy="1143000"/>
          </a:xfrm>
          <a:prstGeom prst="roundRect">
            <a:avLst>
              <a:gd name="adj" fmla="val 7200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0236" y="4892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0236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08876" y="4617720"/>
            <a:ext cx="16527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+ Watchlist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073134" y="4617720"/>
            <a:ext cx="256717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73134" y="4617720"/>
            <a:ext cx="2567178" cy="1143000"/>
          </a:xfrm>
          <a:prstGeom prst="roundRect">
            <a:avLst>
              <a:gd name="adj" fmla="val 7200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01734" y="4892040"/>
            <a:ext cx="457200" cy="45720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301734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850374" y="4617720"/>
            <a:ext cx="16527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route + CSV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PostgreSQL + PostGIS  ·  private object storage (evidence)  ·  signed-JWT auth, RBAC &amp; tamper-evident audit across every layer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REGISTRY + GIS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state's CCTV estate, catalogued and alive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717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onboarded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920240"/>
            <a:ext cx="256717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0138" y="2057400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90138" y="278892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mapped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920240"/>
            <a:ext cx="256717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1636" y="2057400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31636" y="278892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920240"/>
            <a:ext cx="256717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73134" y="2057400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73134" y="278892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records complete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4533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66160"/>
            <a:ext cx="3453384" cy="2057400"/>
          </a:xfrm>
          <a:prstGeom prst="roundRect">
            <a:avLst>
              <a:gd name="adj" fmla="val 4000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7947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onboarding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government feed via a typed adapter; coordinates geocoded and flagged, category inferred - nothing faked.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7784" y="3566160"/>
            <a:ext cx="34533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7784" y="3566160"/>
            <a:ext cx="3453384" cy="2057400"/>
          </a:xfrm>
          <a:prstGeom prst="roundRect">
            <a:avLst>
              <a:gd name="adj" fmla="val 4000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2104" y="37947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lifecycle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42104" y="429768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Make, model, install date, AMC and EOL per camera; maintenance-due and end-of-life items are surfaced automatically.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6928" y="3566160"/>
            <a:ext cx="34533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6928" y="3566160"/>
            <a:ext cx="3453384" cy="2057400"/>
          </a:xfrm>
          <a:prstGeom prst="roundRect">
            <a:avLst>
              <a:gd name="adj" fmla="val 4000"/>
            </a:avLst>
          </a:prstGeom>
          <a:ln w="1270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1248" y="37947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&amp; gap analysis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61248" y="429768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Per-district coverage, thin-coverage and offline lists; downloadable gap report for planning.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UNIFIED VIEWING +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analytics, evidence-gated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detect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478024" y="201168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20116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62072" y="20116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 detect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700016" y="201168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92624" y="20116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084064" y="20116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read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201168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14616" y="20116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06056" y="20116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Multi-frame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01168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36608" y="20116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28048" y="20116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event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evidence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453384" cy="2194560"/>
          </a:xfrm>
          <a:prstGeom prst="roundRect">
            <a:avLst>
              <a:gd name="adj" fmla="val 37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0E9A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297680"/>
            <a:ext cx="2813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gating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70916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plate is stored only after ≥3 corroborating reads pass a format check - low-confidence guesses are rejected, not saved.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67784" y="3429000"/>
            <a:ext cx="3453384" cy="2194560"/>
          </a:xfrm>
          <a:prstGeom prst="roundRect">
            <a:avLst>
              <a:gd name="adj" fmla="val 37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7824" y="3703320"/>
            <a:ext cx="457200" cy="457200"/>
          </a:xfrm>
          <a:prstGeom prst="ellipse">
            <a:avLst/>
          </a:prstGeom>
          <a:solidFill>
            <a:srgbClr val="0E9A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8782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687824" y="4297680"/>
            <a:ext cx="2813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Evidence-backed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87824" y="470916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stored events carry a decoded evidence frame; metadata-only detections never enter the operational timeline.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86928" y="3429000"/>
            <a:ext cx="3453384" cy="2194560"/>
          </a:xfrm>
          <a:prstGeom prst="roundRect">
            <a:avLst>
              <a:gd name="adj" fmla="val 375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06968" y="3703320"/>
            <a:ext cx="457200" cy="457200"/>
          </a:xfrm>
          <a:prstGeom prst="ellipse">
            <a:avLst/>
          </a:prstGeom>
          <a:solidFill>
            <a:srgbClr val="0E9AA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696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506968" y="4297680"/>
            <a:ext cx="2813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correlate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06968" y="470916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 plate search (OCR-error aware) drives cross-camera routes, watchlist (BOLO) matches, and cloned-plate detection across systems.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design: plate yield on wide-angle overview feeds is near-zero (a source-resolution limit), so a controlled ANPR-grade RTSP clip proves the full read → route → CSV path.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VMS FEDERATION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genuinely independent systems, one stream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17236" cy="2286000"/>
          </a:xfrm>
          <a:prstGeom prst="roundRect">
            <a:avLst>
              <a:gd name="adj" fmla="val 3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2B4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8600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Gujarat CSITMS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70048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feed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08960"/>
            <a:ext cx="44942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Adapter: csitms_api</a:t>
            </a:r>
            <a:endParaRPr lang="en-US" sz="13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HLS live edge</a:t>
            </a:r>
            <a:endParaRPr lang="en-US" sz="13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cameras · statewide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3076" y="1965960"/>
            <a:ext cx="5317236" cy="2286000"/>
          </a:xfrm>
          <a:prstGeom prst="roundRect">
            <a:avLst>
              <a:gd name="adj" fmla="val 3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88836" y="22860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8883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20356" y="228600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RTSP System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20356" y="2670048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/ test rig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34556" y="3108960"/>
            <a:ext cx="44942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Adapter: rtsp_catalog</a:t>
            </a:r>
            <a:endParaRPr lang="en-US" sz="13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RTSP (MediaMTX)</a:t>
            </a:r>
            <a:endParaRPr lang="en-US" sz="13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corridor cameras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526280"/>
            <a:ext cx="10268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vehicle, both systems.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carries source-system provenance; the cross-camera route spans both - federation report shows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demonstration_gap: null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or an honest error - never a fake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feeds only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97480"/>
            <a:ext cx="40827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come only from the real government feed. If it's unreachable, the registry stays empty and the true error is surfaced - no synthetic substitution.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3076" y="196596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3116" y="228600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311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3196" y="224028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from the feed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83196" y="2697480"/>
            <a:ext cx="40827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and surge alerts are computed from actual per-frame counts against a learned baseline - not mock database rows.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6052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data is labelled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17720"/>
            <a:ext cx="40827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Watchlist, asset lifecycle and demo users are clearly marked representative (challenge Step 3) - never passed off as live government records.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3076" y="3886200"/>
            <a:ext cx="5317236" cy="1600200"/>
          </a:xfrm>
          <a:prstGeom prst="roundRect">
            <a:avLst>
              <a:gd name="adj" fmla="val 5143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3116" y="420624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4311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83196" y="416052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gracefully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83196" y="4617720"/>
            <a:ext cx="40827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Firewalled RTSP, a 502 media plane, an offline feed - each degrades visibly with the real reason, never a silent fallback.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police-grade chain of custody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7178" cy="3291840"/>
          </a:xfrm>
          <a:prstGeom prst="roundRect">
            <a:avLst>
              <a:gd name="adj" fmla="val 320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3609" y="2286000"/>
            <a:ext cx="777240" cy="77724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3609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Signed-token identity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Spoofable role headers replaced by signed JWTs. A forged role fails verification - a spoofed header now returns 401.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138" y="1965960"/>
            <a:ext cx="2567178" cy="3291840"/>
          </a:xfrm>
          <a:prstGeom prst="roundRect">
            <a:avLst>
              <a:gd name="adj" fmla="val 320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5107" y="2286000"/>
            <a:ext cx="777240" cy="77724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85107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18738" y="324612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RBAC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8738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admin, district officer (district-scoped), viewer. Every camera and stat filtered by verified identity.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1965960"/>
            <a:ext cx="2567178" cy="3291840"/>
          </a:xfrm>
          <a:prstGeom prst="roundRect">
            <a:avLst>
              <a:gd name="adj" fmla="val 320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26605" y="2286000"/>
            <a:ext cx="777240" cy="77724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26605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60236" y="324612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evidence store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moved off local disk into a private object-storage bucket, served only through an authenticated proxy.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73134" y="1965960"/>
            <a:ext cx="2567178" cy="3291840"/>
          </a:xfrm>
          <a:prstGeom prst="roundRect">
            <a:avLst>
              <a:gd name="adj" fmla="val 320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68103" y="2286000"/>
            <a:ext cx="777240" cy="77724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8103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◰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301734" y="324612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301734" y="388620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track query, alert ack and BOLO change is attributed to a user and role in an append-only trail.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-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Benchmarked, bottlenecked, and fixed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→ 820 req/s  (~55×)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92240" y="1965960"/>
            <a:ext cx="5148072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766560" y="209397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 feeds / process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459736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 now sustains ~164 feeds at 5 fps - 3.3× the 50-feed target, 0 errors. Replicas scale it linearly.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3108960"/>
            <a:ext cx="5148072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66560" y="323697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is GPU work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3602736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ANPR is ~5 s/frame on CPU - confirming the design: edge/regional GPU pools (~40 cams/GPU), not a central CPU farm.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4251960"/>
            <a:ext cx="5148072" cy="1051560"/>
          </a:xfrm>
          <a:prstGeom prst="roundRect">
            <a:avLst>
              <a:gd name="adj" fmla="val 782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766560" y="437997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is never the bottleneck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4745736"/>
            <a:ext cx="4599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event load (40-200k/s) is ~0.3% of the video data; a small Redpanda cluster clears it with headroom.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models - measured PASS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2173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50464" y="2121408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50464" y="21214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+ GIS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2813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cams · 100% mapped · 100% asset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7784" y="192024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87824" y="2148840"/>
            <a:ext cx="2173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9608" y="2121408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9608" y="21214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87824" y="256032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viewing + analytics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87824" y="3017520"/>
            <a:ext cx="2813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events evidence-backed · live ANPR route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6928" y="192024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06968" y="2148840"/>
            <a:ext cx="2173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88752" y="2121408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88752" y="21214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06968" y="256032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VMS federation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06968" y="3017520"/>
            <a:ext cx="2813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adapters · provenance · demonstration_gap null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non-negotiable blocker closed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" y="4553712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434840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correctness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90138" y="4434840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28" name="Shape 26"/>
          <p:cNvSpPr/>
          <p:nvPr/>
        </p:nvSpPr>
        <p:spPr>
          <a:xfrm>
            <a:off x="3518154" y="4553712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18154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847338" y="4434840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stability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31636" y="4434840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9652" y="4553712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9652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688836" y="4434840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 KPIs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73134" y="4434840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36" name="Shape 34"/>
          <p:cNvSpPr/>
          <p:nvPr/>
        </p:nvSpPr>
        <p:spPr>
          <a:xfrm>
            <a:off x="9201150" y="4553712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01150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530334" y="4434840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headers → JWT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001768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" y="5120640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6656" y="5120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" y="50017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→ storage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90138" y="5001768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44" name="Shape 42"/>
          <p:cNvSpPr/>
          <p:nvPr/>
        </p:nvSpPr>
        <p:spPr>
          <a:xfrm>
            <a:off x="3518154" y="5120640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518154" y="5120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3847338" y="50017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2-system federation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31636" y="5001768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48" name="Shape 46"/>
          <p:cNvSpPr/>
          <p:nvPr/>
        </p:nvSpPr>
        <p:spPr>
          <a:xfrm>
            <a:off x="6359652" y="5120640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359652" y="5120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688836" y="50017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calibration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073134" y="5001768"/>
            <a:ext cx="2567178" cy="457200"/>
          </a:xfrm>
          <a:prstGeom prst="roundRect">
            <a:avLst>
              <a:gd name="adj" fmla="val 20000"/>
            </a:avLst>
          </a:prstGeom>
          <a:solidFill>
            <a:srgbClr val="16273F"/>
          </a:solidFill>
          <a:ln/>
        </p:spPr>
      </p:sp>
      <p:sp>
        <p:nvSpPr>
          <p:cNvPr id="52" name="Shape 50"/>
          <p:cNvSpPr/>
          <p:nvPr/>
        </p:nvSpPr>
        <p:spPr>
          <a:xfrm>
            <a:off x="9201150" y="5120640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201150" y="5120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530334" y="5001768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50-feed benchmark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STATEWIDE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~80,000 cameras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2286000"/>
          </a:xfrm>
          <a:prstGeom prst="roundRect">
            <a:avLst>
              <a:gd name="adj" fmla="val 3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 / range. Federate CSITMS + a participant VMS; validate route reconstruction on real corridors.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20312" y="192024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67784" y="1920240"/>
            <a:ext cx="3453384" cy="2286000"/>
          </a:xfrm>
          <a:prstGeom prst="roundRect">
            <a:avLst>
              <a:gd name="adj" fmla="val 3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7824" y="2194560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782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87824" y="29718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expansion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87824" y="342900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 full police range. Add edge/regional GPU pools; tune GPU-to-bandwidth ratios against real load.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39456" y="192024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86928" y="1920240"/>
            <a:ext cx="3453384" cy="2286000"/>
          </a:xfrm>
          <a:prstGeom prst="roundRect">
            <a:avLst>
              <a:gd name="adj" fmla="val 36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2194560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696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506968" y="29718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Statewide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06968" y="342900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edge → regional → state topology. Redpanda core, per-region Kubernetes, mTLS everywhere.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14300" dist="38100" dir="5400000">
              <a:srgbClr val="0E1A2B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0120" y="4572000"/>
            <a:ext cx="10268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affordable at scale: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~0.3% of the data that video is. Cross-camera search runs over ~100 TB of tiny events - not 32 PB of video - so it stays fast and horizontally shardable.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4" y="1463040"/>
            <a:ext cx="2011680" cy="2011680"/>
          </a:xfrm>
          <a:prstGeom prst="ellipse">
            <a:avLst/>
          </a:prstGeom>
          <a:solidFill>
            <a:srgbClr val="1B2E49"/>
          </a:solidFill>
          <a:ln/>
        </p:spPr>
      </p:sp>
      <p:sp>
        <p:nvSpPr>
          <p:cNvPr id="3" name="Shape 1"/>
          <p:cNvSpPr/>
          <p:nvPr/>
        </p:nvSpPr>
        <p:spPr>
          <a:xfrm>
            <a:off x="5404104" y="1783080"/>
            <a:ext cx="1371600" cy="13716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4" name="Shape 2"/>
          <p:cNvSpPr/>
          <p:nvPr/>
        </p:nvSpPr>
        <p:spPr>
          <a:xfrm>
            <a:off x="5788152" y="2167128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state's eye - unified.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registry + GIS  ·  Model 2 analytics  ·  Model 3 federation  -  working, measured, and honest.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120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· Gujarat Police Innovation Challenge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2026-09-14T06:23:00Z</dcterms:created>
  <dcterms:modified xsi:type="dcterms:W3CDTF">2026-09-14T06:23:00Z</dcterms:modified>
</cp:coreProperties>
</file>